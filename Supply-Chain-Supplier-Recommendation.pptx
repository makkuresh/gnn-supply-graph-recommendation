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oppins Light" panose="00000400000000000000" pitchFamily="2" charset="0"/>
      <p:regular r:id="rId13"/>
    </p:embeddedFont>
    <p:embeddedFont>
      <p:font typeface="Roboto Light" panose="020000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4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342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hyperlink" Target="github.com/ciol-researchlab/SupplyGraph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8794"/>
            <a:ext cx="113747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Supply Chain Supplier Recommendation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78298"/>
            <a:ext cx="487691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Using Graph Neural Networks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4375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Finding the Right Business Partners with AI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96180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Michael Axel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67046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Reshma Chandran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5379125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Srishwan Beecharaju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08778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GNN Course Project • SUNY POLYTECHNIC INSTITUTE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6691CB-163E-A4AC-339F-7D006DB01DBE}"/>
              </a:ext>
            </a:extLst>
          </p:cNvPr>
          <p:cNvSpPr/>
          <p:nvPr/>
        </p:nvSpPr>
        <p:spPr>
          <a:xfrm>
            <a:off x="12609096" y="7734350"/>
            <a:ext cx="1876926" cy="4535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474"/>
            <a:ext cx="1228355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Problem: Finding Good Suppliers is Hard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Current Challenges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Companies search for suppliers manually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They only look at basic info like location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They miss hidden patterns in networks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Bad matches means wasted time and money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Solution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 Graph Neural Networks (GNN)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Learn from existing successful partnerships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Find hidden connections in the network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Recommend the best supplier matches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E8A35B-EA68-3D76-B22C-B7DFC8226CB8}"/>
              </a:ext>
            </a:extLst>
          </p:cNvPr>
          <p:cNvSpPr/>
          <p:nvPr/>
        </p:nvSpPr>
        <p:spPr>
          <a:xfrm>
            <a:off x="12416589" y="7555832"/>
            <a:ext cx="2213811" cy="6737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28318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is a Graph? 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80190" y="1587818"/>
            <a:ext cx="3991808" cy="403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Supply Chain as a Graph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280190" y="2638068"/>
            <a:ext cx="3670459" cy="2284690"/>
          </a:xfrm>
          <a:prstGeom prst="roundRect">
            <a:avLst>
              <a:gd name="adj" fmla="val 6404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280190" y="2607588"/>
            <a:ext cx="3670459" cy="121920"/>
          </a:xfrm>
          <a:prstGeom prst="roundRect">
            <a:avLst>
              <a:gd name="adj" fmla="val 74233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7792224" y="2314932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86177" y="2508766"/>
            <a:ext cx="258485" cy="25848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6054" y="3176707"/>
            <a:ext cx="2729270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Nodes = Companies</a:t>
            </a:r>
            <a:endParaRPr lang="en-US" sz="2100" dirty="0"/>
          </a:p>
        </p:txBody>
      </p:sp>
      <p:sp>
        <p:nvSpPr>
          <p:cNvPr id="10" name="Text 6"/>
          <p:cNvSpPr/>
          <p:nvPr/>
        </p:nvSpPr>
        <p:spPr>
          <a:xfrm>
            <a:off x="6526054" y="3642479"/>
            <a:ext cx="317873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company is a circle (node) in our graph, representing a distinct entity in the supply chain.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10166033" y="2638068"/>
            <a:ext cx="3670578" cy="2284690"/>
          </a:xfrm>
          <a:prstGeom prst="roundRect">
            <a:avLst>
              <a:gd name="adj" fmla="val 6404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10166033" y="2607588"/>
            <a:ext cx="3670578" cy="121920"/>
          </a:xfrm>
          <a:prstGeom prst="roundRect">
            <a:avLst>
              <a:gd name="adj" fmla="val 74233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11678067" y="2314932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72020" y="2508766"/>
            <a:ext cx="258485" cy="2584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411897" y="3176707"/>
            <a:ext cx="2890957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Edges = Relationships</a:t>
            </a:r>
            <a:endParaRPr lang="en-US" sz="2100" dirty="0"/>
          </a:p>
        </p:txBody>
      </p:sp>
      <p:sp>
        <p:nvSpPr>
          <p:cNvPr id="16" name="Text 11"/>
          <p:cNvSpPr/>
          <p:nvPr/>
        </p:nvSpPr>
        <p:spPr>
          <a:xfrm>
            <a:off x="10411897" y="3642479"/>
            <a:ext cx="317885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Lines connecting nodes show business partnerships or transactions between companies.</a:t>
            </a:r>
            <a:endParaRPr lang="en-US" sz="1650" dirty="0"/>
          </a:p>
        </p:txBody>
      </p:sp>
      <p:sp>
        <p:nvSpPr>
          <p:cNvPr id="17" name="Shape 12"/>
          <p:cNvSpPr/>
          <p:nvPr/>
        </p:nvSpPr>
        <p:spPr>
          <a:xfrm>
            <a:off x="6280190" y="5461278"/>
            <a:ext cx="7556421" cy="1939885"/>
          </a:xfrm>
          <a:prstGeom prst="roundRect">
            <a:avLst>
              <a:gd name="adj" fmla="val 7542"/>
            </a:avLst>
          </a:prstGeom>
          <a:solidFill>
            <a:srgbClr val="0505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6280190" y="5430798"/>
            <a:ext cx="7556421" cy="121920"/>
          </a:xfrm>
          <a:prstGeom prst="roundRect">
            <a:avLst>
              <a:gd name="adj" fmla="val 74233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9735205" y="5138142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29158" y="5331976"/>
            <a:ext cx="258485" cy="25848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26054" y="5999917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Goal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6526054" y="6465689"/>
            <a:ext cx="7064693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Predict NEW edges – which companies should work together for optimal outcomes.</a:t>
            </a:r>
            <a:endParaRPr lang="en-US" sz="16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8D6C5D5-9785-3444-DB72-2C20ED6E0220}"/>
              </a:ext>
            </a:extLst>
          </p:cNvPr>
          <p:cNvSpPr/>
          <p:nvPr/>
        </p:nvSpPr>
        <p:spPr>
          <a:xfrm>
            <a:off x="12536905" y="7555832"/>
            <a:ext cx="2093495" cy="52648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9492"/>
            <a:ext cx="620387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Dataset: SupplyGraph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80190" y="1591151"/>
            <a:ext cx="7556421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 supply chain data from Bangladesh, openly available at </a:t>
            </a:r>
            <a:r>
              <a:rPr lang="en-US" sz="1500" u="sng" dirty="0">
                <a:solidFill>
                  <a:srgbClr val="F2F2F3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github.com/ciol-researchlab/SupplyGraph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280190" y="2521029"/>
            <a:ext cx="3657719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40</a:t>
            </a:r>
            <a:endParaRPr lang="en-US" sz="5000" dirty="0"/>
          </a:p>
        </p:txBody>
      </p:sp>
      <p:sp>
        <p:nvSpPr>
          <p:cNvPr id="6" name="Text 3"/>
          <p:cNvSpPr/>
          <p:nvPr/>
        </p:nvSpPr>
        <p:spPr>
          <a:xfrm>
            <a:off x="6901339" y="3398044"/>
            <a:ext cx="241542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Nodes (Companies)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280190" y="3814882"/>
            <a:ext cx="365771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node represents a distinct company within the supply chain network.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178891" y="2521029"/>
            <a:ext cx="3657719" cy="636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50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806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10727650" y="3398044"/>
            <a:ext cx="256020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Edges (Relationships)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178891" y="3814882"/>
            <a:ext cx="3657719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These represent the connections and interactions between companies.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80190" y="4720828"/>
            <a:ext cx="2892028" cy="361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is in the Data?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6280190" y="5544979"/>
            <a:ext cx="3543062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Node Features: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8 descriptive features per company, detailing various attributes.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280190" y="6537484"/>
            <a:ext cx="3543062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Plant Edges: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Connections indicating factory-to-factory relationships.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301168" y="5544979"/>
            <a:ext cx="3543062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Product Groups: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Links between companies dealing with similar product categories.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301168" y="6537484"/>
            <a:ext cx="3543062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Storage Links:</a:t>
            </a: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Connections highlighting warehouse or storage facility relationships.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B5B06-A1B9-1A77-11AA-2D9F687237BC}"/>
              </a:ext>
            </a:extLst>
          </p:cNvPr>
          <p:cNvSpPr/>
          <p:nvPr/>
        </p:nvSpPr>
        <p:spPr>
          <a:xfrm>
            <a:off x="12484061" y="7664116"/>
            <a:ext cx="2146339" cy="4572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1754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GNN Works 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06059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GNN transforms complex network data into actionable insights for supplier recommendations.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93790" y="2393275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93790" y="2728913"/>
            <a:ext cx="6413659" cy="3048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3790" y="2897505"/>
            <a:ext cx="307562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Look at Each Company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93790" y="3363278"/>
            <a:ext cx="6413659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company has features like a profile, such as location, industry, and capacity. The GNN reads these features as its initial input.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22833" y="2393275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22833" y="2728913"/>
            <a:ext cx="6413778" cy="3048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22833" y="2897505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Talk to Neighbors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22833" y="3363278"/>
            <a:ext cx="6413778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company's representation is updated by aggregating information from its directly connected partners, learning from their attributes and relationships.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93790" y="4774644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93790" y="5110282"/>
            <a:ext cx="6413659" cy="3048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3790" y="52788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Create Fingerprint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790" y="5744647"/>
            <a:ext cx="6413659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Through multiple layers of aggregation and transformation, each company gets a unique "embedding" or fingerprint that captures its network position and characteristics.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22833" y="4774644"/>
            <a:ext cx="215384" cy="269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22833" y="5110282"/>
            <a:ext cx="6413778" cy="30480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22833" y="5278874"/>
            <a:ext cx="3698319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Compare and Recommend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22833" y="5744647"/>
            <a:ext cx="6413778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 then compare these embeddings to find companies with similar profiles or those that would form strong, complementary partnerships, recommending the best matches.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93790" y="7183041"/>
            <a:ext cx="1304282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Input: 8 features → GNN Processing → Output: 16-dim embedding → Link Prediction Score</a:t>
            </a:r>
            <a:endParaRPr lang="en-US" sz="16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5816-1AE7-9BC7-A37A-C8F509CFC82C}"/>
              </a:ext>
            </a:extLst>
          </p:cNvPr>
          <p:cNvSpPr/>
          <p:nvPr/>
        </p:nvSpPr>
        <p:spPr>
          <a:xfrm>
            <a:off x="12633158" y="7527846"/>
            <a:ext cx="1997242" cy="58705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954" y="611267"/>
            <a:ext cx="4244935" cy="451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Our Model: 2-Layer GCN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77954" y="1120497"/>
            <a:ext cx="2554843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Architecture Flow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954" y="1608058"/>
            <a:ext cx="722471" cy="86689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44848" y="1752481"/>
            <a:ext cx="1806178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 Input Features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54" y="2474952"/>
            <a:ext cx="722471" cy="8668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44848" y="2619375"/>
            <a:ext cx="1806178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GCN Layer 1 (8→32)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54" y="3341846"/>
            <a:ext cx="722471" cy="86689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44848" y="3486269"/>
            <a:ext cx="1836777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GCN Layer 2 (32→16)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954" y="4208740"/>
            <a:ext cx="722471" cy="86689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44848" y="4353163"/>
            <a:ext cx="1916787" cy="225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16 Output Embedding</a:t>
            </a:r>
            <a:endParaRPr lang="en-US" sz="1400" dirty="0"/>
          </a:p>
        </p:txBody>
      </p:sp>
      <p:sp>
        <p:nvSpPr>
          <p:cNvPr id="13" name="Text 6"/>
          <p:cNvSpPr/>
          <p:nvPr/>
        </p:nvSpPr>
        <p:spPr>
          <a:xfrm>
            <a:off x="777954" y="5382578"/>
            <a:ext cx="2167414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Details</a:t>
            </a:r>
            <a:endParaRPr lang="en-US" sz="1700" dirty="0"/>
          </a:p>
        </p:txBody>
      </p:sp>
      <p:sp>
        <p:nvSpPr>
          <p:cNvPr id="14" name="Text 7"/>
          <p:cNvSpPr/>
          <p:nvPr/>
        </p:nvSpPr>
        <p:spPr>
          <a:xfrm>
            <a:off x="777954" y="5797868"/>
            <a:ext cx="3617833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Type: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Graph Convolutional Network (GCN)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777954" y="6079569"/>
            <a:ext cx="3617833" cy="46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Layers: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Two GCN layers for hierarchical feature extraction.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777954" y="6592491"/>
            <a:ext cx="3617833" cy="46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Dropout: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0.2, applied to prevent overfitting and improve generalization.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777954" y="7105412"/>
            <a:ext cx="3617833" cy="46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Activation: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ReLU (Rectified Linear Unit) for non-linearity.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755832" y="5382578"/>
            <a:ext cx="2167414" cy="270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Training Setup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4755832" y="5797868"/>
            <a:ext cx="3617833" cy="231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Epochs: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100 iterations for training convergence.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4755832" y="6079569"/>
            <a:ext cx="3617833" cy="46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 Split: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70% Train / 5% Validation / 10% Test (remaining 15% used for other tasks).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4755832" y="6592491"/>
            <a:ext cx="3617833" cy="46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Task: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Link Prediction, identifying potential new connections.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4755832" y="7105412"/>
            <a:ext cx="3617833" cy="462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Framework: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PyTorch Geometric, leveraging its optimized GNN implementations.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9734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Results: It Works!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32933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Performance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94667"/>
            <a:ext cx="4593193" cy="165889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944898"/>
            <a:ext cx="6313884" cy="1063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0"/>
              </a:lnSpc>
              <a:buNone/>
            </a:pPr>
            <a:r>
              <a:rPr lang="en-US" sz="6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86.7%</a:t>
            </a:r>
            <a:endParaRPr lang="en-US" sz="6650" dirty="0"/>
          </a:p>
        </p:txBody>
      </p:sp>
      <p:sp>
        <p:nvSpPr>
          <p:cNvPr id="6" name="Text 3"/>
          <p:cNvSpPr/>
          <p:nvPr/>
        </p:nvSpPr>
        <p:spPr>
          <a:xfrm>
            <a:off x="793790" y="5178147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Test AUC Score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30346" y="2286000"/>
            <a:ext cx="6313884" cy="1063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350"/>
              </a:lnSpc>
              <a:buNone/>
            </a:pPr>
            <a:r>
              <a:rPr lang="en-US" sz="6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80.2%</a:t>
            </a:r>
            <a:endParaRPr lang="en-US" sz="6650" dirty="0"/>
          </a:p>
        </p:txBody>
      </p:sp>
      <p:sp>
        <p:nvSpPr>
          <p:cNvPr id="8" name="Text 5"/>
          <p:cNvSpPr/>
          <p:nvPr/>
        </p:nvSpPr>
        <p:spPr>
          <a:xfrm>
            <a:off x="7530346" y="3519249"/>
            <a:ext cx="6313884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Average Precision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3790" y="5858470"/>
            <a:ext cx="283011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Does This Mean?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93790" y="6432471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86.7% AUC: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Our model correctly identifies good matches 87% of the time, significantly outperforming random chance (50%).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3790" y="6764179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80.2% AP:</a:t>
            </a: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When the system recommends a potential supplier, we are confident it's a valid match approximately 8 out of 10 times.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3790" y="7227689"/>
            <a:ext cx="130428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indicates a robust and reliable system for supplier recommendations, far better than traditional, manual approaches.</a:t>
            </a:r>
            <a:endParaRPr lang="en-US" sz="13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4FE0B6-7896-1983-991D-797B41CA7CFB}"/>
              </a:ext>
            </a:extLst>
          </p:cNvPr>
          <p:cNvSpPr/>
          <p:nvPr/>
        </p:nvSpPr>
        <p:spPr>
          <a:xfrm>
            <a:off x="12476747" y="7499866"/>
            <a:ext cx="2153653" cy="62912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67276"/>
            <a:ext cx="537793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Sample Recommendations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93790" y="1801535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Here is what our system recommends for company </a:t>
            </a: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AT5X5K</a:t>
            </a: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based on its network patterns and features: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793790" y="2234208"/>
            <a:ext cx="3698796" cy="2168366"/>
          </a:xfrm>
          <a:prstGeom prst="roundRect">
            <a:avLst>
              <a:gd name="adj" fmla="val 30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960120" y="2400538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1089" y="2531507"/>
            <a:ext cx="214313" cy="2143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303549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#1 ATN02K12P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60120" y="3378756"/>
            <a:ext cx="336613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Score: 2.70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960120" y="3728085"/>
            <a:ext cx="3366135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recommendation indicates the strongest potential partnership based on GNN analysis.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651296" y="2234208"/>
            <a:ext cx="3698915" cy="2168366"/>
          </a:xfrm>
          <a:prstGeom prst="roundRect">
            <a:avLst>
              <a:gd name="adj" fmla="val 3075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817626" y="2400538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8595" y="2531507"/>
            <a:ext cx="214313" cy="2143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17626" y="303549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#2 MAR01K24P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817626" y="3378756"/>
            <a:ext cx="336625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Score: 2.67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817626" y="3728085"/>
            <a:ext cx="3366254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highly promising match, showing strong compatibility with AT5X5K.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93790" y="4561284"/>
            <a:ext cx="7556421" cy="1914287"/>
          </a:xfrm>
          <a:prstGeom prst="roundRect">
            <a:avLst>
              <a:gd name="adj" fmla="val 3484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960120" y="4727615"/>
            <a:ext cx="476250" cy="476250"/>
          </a:xfrm>
          <a:prstGeom prst="roundRect">
            <a:avLst>
              <a:gd name="adj" fmla="val 19198080"/>
            </a:avLst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1089" y="4858583"/>
            <a:ext cx="214313" cy="214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536257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#3 MASR025K</a:t>
            </a:r>
            <a:endParaRPr lang="en-US" sz="1550" dirty="0"/>
          </a:p>
        </p:txBody>
      </p:sp>
      <p:sp>
        <p:nvSpPr>
          <p:cNvPr id="21" name="Text 15"/>
          <p:cNvSpPr/>
          <p:nvPr/>
        </p:nvSpPr>
        <p:spPr>
          <a:xfrm>
            <a:off x="960120" y="5705832"/>
            <a:ext cx="72237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Score: 2.30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60120" y="6055162"/>
            <a:ext cx="722376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Another strong candidate, suggesting a valuable potential collaboration.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93790" y="6654165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Higher scores indicate a better match. These companies share similar network patterns and characteristics with AT5X5K's existing successful partners.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8047" y="621983"/>
            <a:ext cx="4806672" cy="6007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78047" y="1299567"/>
            <a:ext cx="2883932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Takeaway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566416" y="2164556"/>
            <a:ext cx="7272338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Graph Neural Networks can learn intricate patterns from existing business relationships to predict new, high-potential partnerships that traditional, rule-based methods would often miss, revolutionizing supplier discovery.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278047" y="1948339"/>
            <a:ext cx="22860" cy="1355408"/>
          </a:xfrm>
          <a:prstGeom prst="rect">
            <a:avLst/>
          </a:prstGeom>
          <a:solidFill>
            <a:srgbClr val="F2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78047" y="3712131"/>
            <a:ext cx="2883932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We Did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6278047" y="4264700"/>
            <a:ext cx="354580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Developed a GNN-based supplier recommendation system.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78047" y="4947285"/>
            <a:ext cx="354580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Utilized real-world supply chain data from the SupplyGraph dataset.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78047" y="5629870"/>
            <a:ext cx="3545800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Achieved a high performance of 86.7% AUC on test data, demonstrating effectiveness.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278047" y="6620113"/>
            <a:ext cx="3545800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Created an automated system capable of recommending new suppliers efficiently.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300573" y="3712131"/>
            <a:ext cx="2883932" cy="36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Work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300573" y="4264700"/>
            <a:ext cx="3545800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Integrate more diverse company features (e.g., financial health, sustainability metrics).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300573" y="5254943"/>
            <a:ext cx="3545800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Test the model on significantly larger and more complex datasets for scalability.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0300573" y="6245185"/>
            <a:ext cx="3545800" cy="922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Incorporate time-based patterns and dynamic network changes for evolving recommendations.</a:t>
            </a:r>
            <a:endParaRPr lang="en-US" sz="1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6AADE0-B2B5-2CE9-53D4-5A80E4D2E280}"/>
              </a:ext>
            </a:extLst>
          </p:cNvPr>
          <p:cNvSpPr/>
          <p:nvPr/>
        </p:nvSpPr>
        <p:spPr>
          <a:xfrm>
            <a:off x="12548937" y="7652084"/>
            <a:ext cx="2081463" cy="57751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47210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7160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Questions?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793790" y="50370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Project Summary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5655112"/>
            <a:ext cx="13042821" cy="1937504"/>
          </a:xfrm>
          <a:prstGeom prst="roundRect">
            <a:avLst>
              <a:gd name="adj" fmla="val 4917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01410" y="5662732"/>
            <a:ext cx="4342448" cy="1922264"/>
          </a:xfrm>
          <a:prstGeom prst="roundRect">
            <a:avLst>
              <a:gd name="adj" fmla="val 4956"/>
            </a:avLst>
          </a:prstGeom>
          <a:solidFill>
            <a:srgbClr val="3D3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28224" y="5889546"/>
            <a:ext cx="3548658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40</a:t>
            </a:r>
            <a:endParaRPr lang="en-US" sz="6150" dirty="0"/>
          </a:p>
        </p:txBody>
      </p:sp>
      <p:sp>
        <p:nvSpPr>
          <p:cNvPr id="9" name="Text 6"/>
          <p:cNvSpPr/>
          <p:nvPr/>
        </p:nvSpPr>
        <p:spPr>
          <a:xfrm>
            <a:off x="1028224" y="7003852"/>
            <a:ext cx="28416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Nodes (Companies)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143857" y="5662732"/>
            <a:ext cx="4342567" cy="1922264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43857" y="5662732"/>
            <a:ext cx="30480" cy="1922264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0833" y="5889546"/>
            <a:ext cx="3208615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806</a:t>
            </a:r>
            <a:endParaRPr lang="en-US" sz="6150" dirty="0"/>
          </a:p>
        </p:txBody>
      </p:sp>
      <p:sp>
        <p:nvSpPr>
          <p:cNvPr id="13" name="Text 10"/>
          <p:cNvSpPr/>
          <p:nvPr/>
        </p:nvSpPr>
        <p:spPr>
          <a:xfrm>
            <a:off x="5710833" y="7003852"/>
            <a:ext cx="3012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Edges (Relationships)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4860369" y="634031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2054" y="6482001"/>
            <a:ext cx="283488" cy="28348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9486424" y="5662732"/>
            <a:ext cx="4342567" cy="1922264"/>
          </a:xfrm>
          <a:prstGeom prst="rect">
            <a:avLst/>
          </a:prstGeom>
          <a:solidFill>
            <a:srgbClr val="3D3D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486424" y="5662732"/>
            <a:ext cx="30480" cy="1922264"/>
          </a:xfrm>
          <a:prstGeom prst="roundRect">
            <a:avLst>
              <a:gd name="adj" fmla="val 312558"/>
            </a:avLst>
          </a:prstGeom>
          <a:solidFill>
            <a:srgbClr val="5656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10053399" y="5889546"/>
            <a:ext cx="3548777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86.7%</a:t>
            </a:r>
            <a:endParaRPr lang="en-US" sz="6150" dirty="0"/>
          </a:p>
        </p:txBody>
      </p:sp>
      <p:sp>
        <p:nvSpPr>
          <p:cNvPr id="19" name="Text 15"/>
          <p:cNvSpPr/>
          <p:nvPr/>
        </p:nvSpPr>
        <p:spPr>
          <a:xfrm>
            <a:off x="10053399" y="70038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AUC Score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9202936" y="6340316"/>
            <a:ext cx="566976" cy="566976"/>
          </a:xfrm>
          <a:prstGeom prst="roundRect">
            <a:avLst>
              <a:gd name="adj" fmla="val 16803"/>
            </a:avLst>
          </a:prstGeom>
          <a:solidFill>
            <a:srgbClr val="050505"/>
          </a:solidFill>
          <a:ln w="30480">
            <a:solidFill>
              <a:srgbClr val="5656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4620" y="6482001"/>
            <a:ext cx="283488" cy="283488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F0930B05-C243-E268-5181-B8FF1B14402C}"/>
              </a:ext>
            </a:extLst>
          </p:cNvPr>
          <p:cNvSpPr/>
          <p:nvPr/>
        </p:nvSpPr>
        <p:spPr>
          <a:xfrm>
            <a:off x="12597063" y="7700211"/>
            <a:ext cx="2033337" cy="52938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862</Words>
  <Application>Microsoft Office PowerPoint</Application>
  <PresentationFormat>Custom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Poppins Light</vt:lpstr>
      <vt:lpstr>Arial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Reshma Chandran</cp:lastModifiedBy>
  <cp:revision>2</cp:revision>
  <dcterms:created xsi:type="dcterms:W3CDTF">2025-11-29T06:12:27Z</dcterms:created>
  <dcterms:modified xsi:type="dcterms:W3CDTF">2025-12-01T21:09:37Z</dcterms:modified>
</cp:coreProperties>
</file>